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86" r:id="rId8"/>
    <p:sldId id="287" r:id="rId9"/>
    <p:sldId id="288" r:id="rId10"/>
    <p:sldId id="289" r:id="rId11"/>
    <p:sldId id="29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10/16/2024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10/16/2024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829" y="1131848"/>
            <a:ext cx="7781544" cy="859055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4829" y="2052761"/>
            <a:ext cx="6988216" cy="4444876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What is Cloud Computing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Benefits of Cloud Computing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Types of Cloud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Cloud Providers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Service Models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+mj-lt"/>
              </a:rPr>
              <a:t>Conclusion</a:t>
            </a:r>
            <a:endParaRPr lang="en-US" sz="28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Cloud Computing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latin typeface="+mj-lt"/>
              </a:rPr>
              <a:t>Cloud computing is a model for delivering IT services over the internet, allowing on-demand access to resources like servers, storage, and </a:t>
            </a:r>
            <a:r>
              <a:rPr lang="en-US" sz="2000" dirty="0" smtClean="0">
                <a:latin typeface="+mj-lt"/>
              </a:rPr>
              <a:t>applications</a:t>
            </a:r>
          </a:p>
          <a:p>
            <a:r>
              <a:rPr lang="en-US" sz="2000" dirty="0" smtClean="0">
                <a:latin typeface="+mj-lt"/>
              </a:rPr>
              <a:t>Key to the definition of Cloud Computing is “Cloud” itself. A cloud is a large group of interconnected computers</a:t>
            </a:r>
          </a:p>
          <a:p>
            <a:endParaRPr lang="en-US" sz="2000" dirty="0" smtClean="0">
              <a:latin typeface="+mj-lt"/>
            </a:endParaRPr>
          </a:p>
          <a:p>
            <a:endParaRPr lang="en-US" sz="20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8" name="Picture 4" descr="391,900+ Cloud Computing Stock Photos, Pictures &amp; Royalt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885" y="2361070"/>
            <a:ext cx="4501515" cy="300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Cloud Computing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latin typeface="+mj-lt"/>
              </a:rPr>
              <a:t>Scalability: Easily adjust resources based on demand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Cost-effectiveness</a:t>
            </a:r>
            <a:r>
              <a:rPr lang="en-US" sz="2000" dirty="0">
                <a:latin typeface="+mj-lt"/>
              </a:rPr>
              <a:t>: Pay-as-you-go pricing model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Flexibility</a:t>
            </a:r>
            <a:r>
              <a:rPr lang="en-US" sz="2000" dirty="0">
                <a:latin typeface="+mj-lt"/>
              </a:rPr>
              <a:t>: Access resources from anywhere with an internet connection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Reliability</a:t>
            </a:r>
            <a:r>
              <a:rPr lang="en-US" sz="2000" dirty="0">
                <a:latin typeface="+mj-lt"/>
              </a:rPr>
              <a:t>: High availability and redundancy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Accessibility: Accessible anywhere with any device</a:t>
            </a:r>
          </a:p>
          <a:p>
            <a:r>
              <a:rPr lang="en-US" sz="2000" dirty="0" smtClean="0">
                <a:latin typeface="+mj-lt"/>
              </a:rPr>
              <a:t>Backup and Restore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61" name="Picture 13" descr="Crafting your digital transformation with cloud computing: What it takes -  Express 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900" y="1622878"/>
            <a:ext cx="4504367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88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Clouds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</a:rPr>
              <a:t>Public Cloud : </a:t>
            </a:r>
            <a:r>
              <a:rPr lang="en-US" sz="2000" dirty="0">
                <a:latin typeface="+mj-lt"/>
              </a:rPr>
              <a:t>C</a:t>
            </a:r>
            <a:r>
              <a:rPr lang="en-US" sz="2000" dirty="0" smtClean="0">
                <a:latin typeface="+mj-lt"/>
              </a:rPr>
              <a:t>omputing </a:t>
            </a:r>
            <a:r>
              <a:rPr lang="en-US" sz="2000" dirty="0">
                <a:latin typeface="+mj-lt"/>
              </a:rPr>
              <a:t>services offered by third-party providers over the public </a:t>
            </a:r>
            <a:r>
              <a:rPr lang="en-US" sz="2000" dirty="0" smtClean="0">
                <a:latin typeface="+mj-lt"/>
              </a:rPr>
              <a:t>Internet. </a:t>
            </a:r>
            <a:r>
              <a:rPr lang="en-US" sz="2000" dirty="0">
                <a:latin typeface="+mj-lt"/>
              </a:rPr>
              <a:t>C</a:t>
            </a:r>
            <a:r>
              <a:rPr lang="en-US" sz="2000" dirty="0">
                <a:latin typeface="+mj-lt"/>
              </a:rPr>
              <a:t>ustomers </a:t>
            </a:r>
            <a:r>
              <a:rPr lang="en-US" sz="2000" dirty="0">
                <a:latin typeface="+mj-lt"/>
              </a:rPr>
              <a:t>to pay only per </a:t>
            </a:r>
            <a:r>
              <a:rPr lang="en-US" sz="2000" dirty="0" smtClean="0">
                <a:latin typeface="+mj-lt"/>
              </a:rPr>
              <a:t>usage.</a:t>
            </a:r>
          </a:p>
          <a:p>
            <a:r>
              <a:rPr lang="en-US" sz="2000" dirty="0" smtClean="0">
                <a:latin typeface="+mj-lt"/>
              </a:rPr>
              <a:t>Private Cloud 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smtClean="0">
                <a:latin typeface="+mj-lt"/>
              </a:rPr>
              <a:t>All </a:t>
            </a:r>
            <a:r>
              <a:rPr lang="en-US" sz="2000" dirty="0">
                <a:latin typeface="+mj-lt"/>
              </a:rPr>
              <a:t>hardware and software resources are dedicated exclusively to, and accessible only by, a single customer. </a:t>
            </a:r>
            <a:r>
              <a:rPr lang="en-US" sz="2000" dirty="0" smtClean="0">
                <a:latin typeface="+mj-lt"/>
              </a:rPr>
              <a:t>benefits include </a:t>
            </a:r>
            <a:r>
              <a:rPr lang="en-US" sz="2000" dirty="0">
                <a:latin typeface="+mj-lt"/>
              </a:rPr>
              <a:t>elasticity, scalability and ease of service delivery—with the access control, security and resource customization of on-premises </a:t>
            </a:r>
            <a:r>
              <a:rPr lang="en-US" sz="2000" dirty="0" smtClean="0">
                <a:latin typeface="+mj-lt"/>
              </a:rPr>
              <a:t>infrastructure</a:t>
            </a:r>
          </a:p>
          <a:p>
            <a:r>
              <a:rPr lang="en-US" sz="2000" dirty="0">
                <a:latin typeface="+mj-lt"/>
              </a:rPr>
              <a:t>Hybrid Cloud : A hybrid </a:t>
            </a:r>
            <a:r>
              <a:rPr lang="en-US" sz="2000" dirty="0" smtClean="0">
                <a:latin typeface="+mj-lt"/>
              </a:rPr>
              <a:t>is </a:t>
            </a:r>
            <a:r>
              <a:rPr lang="en-US" sz="2000" dirty="0">
                <a:latin typeface="+mj-lt"/>
              </a:rPr>
              <a:t>a computing environment that combines an on-premises datacenter </a:t>
            </a:r>
            <a:r>
              <a:rPr lang="en-US" sz="2000" dirty="0" smtClean="0">
                <a:latin typeface="+mj-lt"/>
              </a:rPr>
              <a:t>with </a:t>
            </a:r>
            <a:r>
              <a:rPr lang="en-US" sz="2000" dirty="0">
                <a:latin typeface="+mj-lt"/>
              </a:rPr>
              <a:t>a public cloud, allowing data and applications to be shared between them</a:t>
            </a:r>
            <a:endParaRPr lang="en-US" sz="20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074" name="Picture 2" descr="What are the Different types of cloud computing? An Explana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890967"/>
            <a:ext cx="3506516" cy="220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80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smtClean="0"/>
              <a:t>Major Cloud Providers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0917" t="16314" r="7737" b="11729"/>
          <a:stretch/>
        </p:blipFill>
        <p:spPr>
          <a:xfrm>
            <a:off x="1650381" y="1159726"/>
            <a:ext cx="8773267" cy="529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3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Cloud Service Models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</a:rPr>
              <a:t>IaaS : Infrastructure as a Service</a:t>
            </a:r>
            <a:r>
              <a:rPr lang="en-US" sz="2000" dirty="0">
                <a:latin typeface="+mj-lt"/>
              </a:rPr>
              <a:t>. Provides fundamental computing resources like servers, storage, and networking</a:t>
            </a:r>
            <a:r>
              <a:rPr lang="en-US" sz="2000" dirty="0" smtClean="0">
                <a:latin typeface="+mj-lt"/>
              </a:rPr>
              <a:t>. Example – AWS EC2, Google Compute Engine</a:t>
            </a:r>
          </a:p>
          <a:p>
            <a:r>
              <a:rPr lang="en-US" sz="2000" dirty="0" smtClean="0">
                <a:latin typeface="+mj-lt"/>
              </a:rPr>
              <a:t>PaaS : Platform as a Service</a:t>
            </a:r>
            <a:r>
              <a:rPr lang="en-US" sz="2000" dirty="0">
                <a:latin typeface="+mj-lt"/>
              </a:rPr>
              <a:t>. Offers a development and deployment environment for applications</a:t>
            </a:r>
            <a:r>
              <a:rPr lang="en-US" sz="2000" dirty="0" smtClean="0">
                <a:latin typeface="+mj-lt"/>
              </a:rPr>
              <a:t>. Example </a:t>
            </a:r>
            <a:r>
              <a:rPr lang="en-US" sz="2000" dirty="0">
                <a:latin typeface="+mj-lt"/>
              </a:rPr>
              <a:t>- </a:t>
            </a:r>
            <a:r>
              <a:rPr lang="en-US" sz="2000" dirty="0" err="1">
                <a:latin typeface="+mj-lt"/>
              </a:rPr>
              <a:t>Heroku</a:t>
            </a:r>
            <a:r>
              <a:rPr lang="en-US" sz="2000" dirty="0">
                <a:latin typeface="+mj-lt"/>
              </a:rPr>
              <a:t>, Google App </a:t>
            </a:r>
            <a:r>
              <a:rPr lang="en-US" sz="2000" dirty="0" smtClean="0">
                <a:latin typeface="+mj-lt"/>
              </a:rPr>
              <a:t>Engine</a:t>
            </a:r>
          </a:p>
          <a:p>
            <a:r>
              <a:rPr lang="en-US" sz="2000" dirty="0" smtClean="0">
                <a:latin typeface="+mj-lt"/>
              </a:rPr>
              <a:t>SaaS : Software as a Service</a:t>
            </a:r>
            <a:r>
              <a:rPr lang="en-US" sz="2000" dirty="0">
                <a:latin typeface="+mj-lt"/>
              </a:rPr>
              <a:t>. </a:t>
            </a:r>
            <a:r>
              <a:rPr lang="en-US" sz="2000" dirty="0" smtClean="0">
                <a:latin typeface="+mj-lt"/>
              </a:rPr>
              <a:t>Cloud-based </a:t>
            </a:r>
            <a:r>
              <a:rPr lang="en-US" sz="2000" dirty="0">
                <a:latin typeface="+mj-lt"/>
              </a:rPr>
              <a:t>method of delivering software where users subscribe to access applications on the </a:t>
            </a:r>
            <a:r>
              <a:rPr lang="en-US" sz="2000" dirty="0" smtClean="0">
                <a:latin typeface="+mj-lt"/>
              </a:rPr>
              <a:t>Internet. Example – Salesforce, Google Works</a:t>
            </a:r>
            <a:endParaRPr lang="en-US" sz="20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066" y="2331675"/>
            <a:ext cx="3802334" cy="338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3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latin typeface="+mj-lt"/>
              </a:rPr>
              <a:t>Cloud computing offers scalable, flexible, and cost-effective IT solutions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Different </a:t>
            </a:r>
            <a:r>
              <a:rPr lang="en-US" sz="2000" dirty="0">
                <a:latin typeface="+mj-lt"/>
              </a:rPr>
              <a:t>cloud models (public, private, hybrid) cater to diverse needs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Service </a:t>
            </a:r>
            <a:r>
              <a:rPr lang="en-US" sz="2000" dirty="0">
                <a:latin typeface="+mj-lt"/>
              </a:rPr>
              <a:t>models (IaaS, PaaS, SaaS) provide varying levels of abstraction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Major </a:t>
            </a:r>
            <a:r>
              <a:rPr lang="en-US" sz="2000" dirty="0">
                <a:latin typeface="+mj-lt"/>
              </a:rPr>
              <a:t>cloud providers offer a wide range of services and tools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smtClean="0">
                <a:latin typeface="+mj-lt"/>
              </a:rPr>
              <a:t>The </a:t>
            </a:r>
            <a:r>
              <a:rPr lang="en-US" sz="2000" dirty="0">
                <a:latin typeface="+mj-lt"/>
              </a:rPr>
              <a:t>future of cloud computing is bright, with advancements in AI, </a:t>
            </a:r>
            <a:r>
              <a:rPr lang="en-US" sz="2000" dirty="0" err="1">
                <a:latin typeface="+mj-lt"/>
              </a:rPr>
              <a:t>IoT</a:t>
            </a:r>
            <a:r>
              <a:rPr lang="en-US" sz="2000" dirty="0">
                <a:latin typeface="+mj-lt"/>
              </a:rPr>
              <a:t>, and edge computing.</a:t>
            </a:r>
            <a:endParaRPr lang="en-US" sz="2000" dirty="0">
              <a:latin typeface="+mj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386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381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Tahoma</vt:lpstr>
      <vt:lpstr>Trade Gothic LT Pro</vt:lpstr>
      <vt:lpstr>Trebuchet MS</vt:lpstr>
      <vt:lpstr>Office Theme</vt:lpstr>
      <vt:lpstr>Cloud Computing</vt:lpstr>
      <vt:lpstr>Agenda</vt:lpstr>
      <vt:lpstr>What is Cloud Computing</vt:lpstr>
      <vt:lpstr>Benefits of Cloud Computing</vt:lpstr>
      <vt:lpstr>Types of Clouds</vt:lpstr>
      <vt:lpstr>Major Cloud Providers</vt:lpstr>
      <vt:lpstr>Cloud Service Models</vt:lpstr>
      <vt:lpstr>Conclusion</vt:lpstr>
      <vt:lpstr>Thank You 1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2024-10-16T04:33:11Z</dcterms:created>
  <dcterms:modified xsi:type="dcterms:W3CDTF">2024-10-16T05:06:55Z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